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dron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695" y="-457200"/>
            <a:ext cx="7040880" cy="7040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6400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C8474"/>
                </a:solidFill>
                <a:latin typeface="Consolas"/>
              </a:rPr>
              <a:t>REV 1.1  /  SITL-VERIFIED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7665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AUTONOMOUS UAV  /  COMPANION-COMPUTER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612648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5800" b="1" i="0">
                <a:solidFill>
                  <a:srgbClr val="34302A"/>
                </a:solidFill>
                <a:latin typeface="Constantia"/>
              </a:rPr>
              <a:t>Drone Safety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5800" b="1" i="0">
                <a:solidFill>
                  <a:srgbClr val="34302A"/>
                </a:solidFill>
                <a:latin typeface="Constantia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24528"/>
            <a:ext cx="2011680" cy="30480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25696"/>
            <a:ext cx="58521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 i="0">
                <a:solidFill>
                  <a:srgbClr val="5E574C"/>
                </a:solidFill>
                <a:latin typeface="Segoe UI"/>
              </a:rPr>
              <a:t>Verified dispatch &amp; failsafe arbitration for fully autonomous flight.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68112"/>
            <a:ext cx="1417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34302A"/>
                </a:solidFill>
                <a:latin typeface="Constantia"/>
              </a:rPr>
              <a:t>0.4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71616"/>
            <a:ext cx="1463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8C8474"/>
                </a:solidFill>
                <a:latin typeface="Consolas"/>
              </a:rPr>
              <a:t>TERMINAL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5522976"/>
            <a:ext cx="12700" cy="694944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5468112"/>
            <a:ext cx="1417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34302A"/>
                </a:solidFill>
                <a:latin typeface="Constantia"/>
              </a:rPr>
              <a:t>8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6071616"/>
            <a:ext cx="1463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8C8474"/>
                </a:solidFill>
                <a:latin typeface="Consolas"/>
              </a:rPr>
              <a:t>ACCEPTANCE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4" y="5522976"/>
            <a:ext cx="12700" cy="694944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5468112"/>
            <a:ext cx="1417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34302A"/>
                </a:solidFill>
                <a:latin typeface="Constantia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6071616"/>
            <a:ext cx="1463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8C8474"/>
                </a:solidFill>
                <a:latin typeface="Consolas"/>
              </a:rPr>
              <a:t>UNIT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5522976"/>
            <a:ext cx="12700" cy="694944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5468112"/>
            <a:ext cx="1417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34302A"/>
                </a:solidFill>
                <a:latin typeface="Constant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6071616"/>
            <a:ext cx="1463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8C8474"/>
                </a:solidFill>
                <a:latin typeface="Consolas"/>
              </a:rPr>
              <a:t>PATENTS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8C8474"/>
                </a:solidFill>
                <a:latin typeface="Consolas"/>
              </a:rPr>
              <a:t>github.com/SV-1411/drone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What this system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37360"/>
            <a:ext cx="10835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900" b="0" i="0">
                <a:solidFill>
                  <a:srgbClr val="5E574C"/>
                </a:solidFill>
                <a:latin typeface="Segoe UI"/>
              </a:rPr>
              <a:t>A companion-computer stack that turns one network trigger into a complete autonomous mission — fly to a GPS target, hover, and return — with no pilot, and aviation-grade safety woven through every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788920"/>
            <a:ext cx="2587752" cy="269748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3017520"/>
            <a:ext cx="2185416" cy="2794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11226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B0744D"/>
                </a:solidFill>
                <a:latin typeface="Constantia"/>
              </a:rPr>
              <a:t>Trigger-to-flight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211226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0" i="0">
                <a:solidFill>
                  <a:srgbClr val="5E574C"/>
                </a:solidFill>
                <a:latin typeface="Segoe UI"/>
              </a:rPr>
              <a:t>POST a coordinate; the drone arms, takes off, navigates, hovers and returns on its 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788920"/>
            <a:ext cx="2587752" cy="269748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1024" y="3017520"/>
            <a:ext cx="2185416" cy="27940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200400"/>
            <a:ext cx="211226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7C8A5A"/>
                </a:solidFill>
                <a:latin typeface="Constantia"/>
              </a:rPr>
              <a:t>Verified 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39"/>
            <a:ext cx="211226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0" i="0">
                <a:solidFill>
                  <a:srgbClr val="5E574C"/>
                </a:solidFill>
                <a:latin typeface="Segoe UI"/>
              </a:rPr>
              <a:t>Every flight-mode change is confirmed from the autopilot's own telemetry, never assumed.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88920"/>
            <a:ext cx="2587752" cy="269748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64224" y="3017520"/>
            <a:ext cx="2185416" cy="27940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211226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5B7286"/>
                </a:solidFill>
                <a:latin typeface="Constantia"/>
              </a:rPr>
              <a:t>Arbitrated failsafes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39"/>
            <a:ext cx="211226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0" i="0">
                <a:solidFill>
                  <a:srgbClr val="5E574C"/>
                </a:solidFill>
                <a:latin typeface="Segoe UI"/>
              </a:rPr>
              <a:t>Battery, GPS, geofence &amp; timeout hazards resolve to one debounced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2788920"/>
            <a:ext cx="2587752" cy="269748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3017520"/>
            <a:ext cx="2185416" cy="27940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211226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B5904E"/>
                </a:solidFill>
                <a:latin typeface="Constantia"/>
              </a:rPr>
              <a:t>Provable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977639"/>
            <a:ext cx="211226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0" i="0">
                <a:solidFill>
                  <a:srgbClr val="5E574C"/>
                </a:solidFill>
                <a:latin typeface="Segoe UI"/>
              </a:rPr>
              <a:t>A landing interlock makes it impossible to start a mission on an airborne drone.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Autonomy removes the operator who catches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The autopilot can lie. </a:t>
            </a:r>
            <a:r>
              <a:rPr sz="1650">
                <a:solidFill>
                  <a:srgbClr val="5E574C"/>
                </a:solidFill>
                <a:latin typeface="Segoe UI"/>
              </a:rPr>
              <a:t>A mode-change is reported accepted while the autopilot silently stays in its old mode — seen on real ArduCopter.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No human is watching. </a:t>
            </a:r>
            <a:r>
              <a:rPr sz="1650">
                <a:solidFill>
                  <a:srgbClr val="5E574C"/>
                </a:solidFill>
                <a:latin typeface="Segoe UI"/>
              </a:rPr>
              <a:t>In autonomous dispatch nobody notices a dropped command — and the same path carries emergency RTL/LAND.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Missions can overlap. </a:t>
            </a:r>
            <a:r>
              <a:rPr sz="1650">
                <a:solidFill>
                  <a:srgbClr val="5E574C"/>
                </a:solidFill>
                <a:latin typeface="Segoe UI"/>
              </a:rPr>
              <a:t>Treating mission N's end as license to start N+1 can arm a still-airborne aircraft — undefined &amp; hazardous.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6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Sensors glitch. </a:t>
            </a:r>
            <a:r>
              <a:rPr sz="1650">
                <a:solidFill>
                  <a:srgbClr val="5E574C"/>
                </a:solidFill>
                <a:latin typeface="Segoe UI"/>
              </a:rPr>
              <a:t>One bad GPS sample, taken naively, triggers an instant land-in-place — over a road, water, or a crowd.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74519"/>
            <a:ext cx="4983480" cy="3886200"/>
          </a:xfrm>
          <a:prstGeom prst="roundRect">
            <a:avLst>
              <a:gd name="adj" fmla="val 117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109728" cy="388620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1">
                <a:solidFill>
                  <a:srgbClr val="B0744D"/>
                </a:solidFill>
                <a:latin typeface="Constantia"/>
              </a:rPr>
              <a:t>The core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40"/>
            <a:ext cx="4343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34302A"/>
                </a:solidFill>
                <a:latin typeface="Constantia"/>
              </a:rPr>
              <a:t>“A command issued is not a command executed.”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069080"/>
            <a:ext cx="434340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0" i="1">
                <a:solidFill>
                  <a:srgbClr val="5E574C"/>
                </a:solidFill>
                <a:latin typeface="Segoe UI"/>
              </a:rPr>
              <a:t>So we treat the autopilot as untrusted: demand telemetry-confirmed proof of every transition — then guarantee the queue can never hand off an airborne drone.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Four cleanly separated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8496"/>
            <a:ext cx="7680960" cy="4172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97880"/>
            <a:ext cx="7680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1 · System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828800"/>
            <a:ext cx="3200400" cy="4114800"/>
          </a:xfrm>
          <a:prstGeom prst="roundRect">
            <a:avLst>
              <a:gd name="adj" fmla="val 1428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5740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Trigger API </a:t>
            </a:r>
            <a:r>
              <a:rPr sz="1400">
                <a:solidFill>
                  <a:srgbClr val="5E574C"/>
                </a:solidFill>
                <a:latin typeface="Segoe UI"/>
              </a:rPr>
              <a:t>— validate, queue, stream.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Executor </a:t>
            </a:r>
            <a:r>
              <a:rPr sz="1400">
                <a:solidFill>
                  <a:srgbClr val="5E574C"/>
                </a:solidFill>
                <a:latin typeface="Segoe UI"/>
              </a:rPr>
              <a:t>— the 12-state flight machine.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Failsafe monitor </a:t>
            </a:r>
            <a:r>
              <a:rPr sz="1400">
                <a:solidFill>
                  <a:srgbClr val="5E574C"/>
                </a:solidFill>
                <a:latin typeface="Segoe UI"/>
              </a:rPr>
              <a:t>— 1 Hz hazard arbiter.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Dashboard </a:t>
            </a:r>
            <a:r>
              <a:rPr sz="1400">
                <a:solidFill>
                  <a:srgbClr val="5E574C"/>
                </a:solidFill>
                <a:latin typeface="Segoe UI"/>
              </a:rPr>
              <a:t>— live Leaflet map.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The full system — hardware &amp;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14" y="1691640"/>
            <a:ext cx="762965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863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2 · End-to-end system (drone + ground)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3063240" cy="4114800"/>
          </a:xfrm>
          <a:prstGeom prst="roundRect">
            <a:avLst>
              <a:gd name="adj" fmla="val 1492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057400"/>
            <a:ext cx="2697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On the drone </a:t>
            </a:r>
            <a:r>
              <a:rPr sz="1300">
                <a:solidFill>
                  <a:srgbClr val="5E574C"/>
                </a:solidFill>
                <a:latin typeface="Segoe UI"/>
              </a:rPr>
              <a:t>— sensors → flight controller → companion Pi → motors.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Companion </a:t>
            </a:r>
            <a:r>
              <a:rPr sz="1300">
                <a:solidFill>
                  <a:srgbClr val="5E574C"/>
                </a:solidFill>
                <a:latin typeface="Segoe UI"/>
              </a:rPr>
              <a:t>— runs the Trigger API, executor &amp; failsafe.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Link </a:t>
            </a:r>
            <a:r>
              <a:rPr sz="1300">
                <a:solidFill>
                  <a:srgbClr val="5E574C"/>
                </a:solidFill>
                <a:latin typeface="Segoe UI"/>
              </a:rPr>
              <a:t>— SiK 433 MHz radio to the ground laptop.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Ground </a:t>
            </a:r>
            <a:r>
              <a:rPr sz="1300">
                <a:solidFill>
                  <a:srgbClr val="5E574C"/>
                </a:solidFill>
                <a:latin typeface="Segoe UI"/>
              </a:rPr>
              <a:t>— GCS / dashboard for monitoring &amp; override.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0744D"/>
                </a:solidFill>
                <a:latin typeface="Consolas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How the radio &amp; companion are wired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i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20" y="1691640"/>
            <a:ext cx="777284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8638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· Flight-controller wiring (SiK 433 + companion)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3063240" cy="4114800"/>
          </a:xfrm>
          <a:prstGeom prst="roundRect">
            <a:avLst>
              <a:gd name="adj" fmla="val 1492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057400"/>
            <a:ext cx="2697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TELEM1 → SiK radio </a:t>
            </a:r>
            <a:r>
              <a:rPr sz="1300">
                <a:solidFill>
                  <a:srgbClr val="5E574C"/>
                </a:solidFill>
                <a:latin typeface="Segoe UI"/>
              </a:rPr>
              <a:t>— 6-wire JST-GH; cross FC TX → radio RX.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UART → Companion </a:t>
            </a:r>
            <a:r>
              <a:rPr sz="1300">
                <a:solidFill>
                  <a:srgbClr val="5E574C"/>
                </a:solidFill>
                <a:latin typeface="Segoe UI"/>
              </a:rPr>
              <a:t>— TX·RX·GND; runs the autonomy stack.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GPS &amp; power </a:t>
            </a:r>
            <a:r>
              <a:rPr sz="1300">
                <a:solidFill>
                  <a:srgbClr val="5E574C"/>
                </a:solidFill>
                <a:latin typeface="Segoe UI"/>
              </a:rPr>
              <a:t>— to their dedicated ports.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MAIN OUT → ESCs </a:t>
            </a:r>
            <a:r>
              <a:rPr sz="1300">
                <a:solidFill>
                  <a:srgbClr val="5E574C"/>
                </a:solidFill>
                <a:latin typeface="Segoe UI"/>
              </a:rPr>
              <a:t>— PWM to the four motors.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How the system was built &amp; proven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8813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1">
                <a:solidFill>
                  <a:srgbClr val="8C8474"/>
                </a:solidFill>
                <a:latin typeface="Segoe UI"/>
              </a:rPr>
              <a:t>Figure 3 · Iterative, test-driven development method</a:t>
            </a:r>
          </a:p>
        </p:txBody>
      </p:sp>
      <p:pic>
        <p:nvPicPr>
          <p:cNvPr id="10" name="Picture 9" descr="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60" y="1783080"/>
            <a:ext cx="6705600" cy="2514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" y="4709160"/>
            <a:ext cx="10835640" cy="1280160"/>
          </a:xfrm>
          <a:prstGeom prst="roundRect">
            <a:avLst>
              <a:gd name="adj" fmla="val 3571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Test-driven </a:t>
            </a:r>
            <a:r>
              <a:rPr sz="1400">
                <a:solidFill>
                  <a:srgbClr val="5E574C"/>
                </a:solidFill>
                <a:latin typeface="Segoe UI"/>
              </a:rPr>
              <a:t>— design → implement → simulate in SITL → verify with 37 unit + E2E tests → harden, repeat.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Evidence-led </a:t>
            </a:r>
            <a:r>
              <a:rPr sz="1400">
                <a:solidFill>
                  <a:srgbClr val="5E574C"/>
                </a:solidFill>
                <a:latin typeface="Segoe UI"/>
              </a:rPr>
              <a:t>— every safety claim is pinned by an automated test before it enters the patent drafts.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7C8A5A"/>
                </a:solidFill>
                <a:latin typeface="Consolas"/>
              </a:rPr>
              <a:t>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End-to-end: how it all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or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6347"/>
            <a:ext cx="7955279" cy="40568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9552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4 · Working &amp; data flow, input to flight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828800"/>
            <a:ext cx="3017520" cy="4114800"/>
          </a:xfrm>
          <a:prstGeom prst="roundRect">
            <a:avLst>
              <a:gd name="adj" fmla="val 1515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8" y="2057400"/>
            <a:ext cx="2651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Input </a:t>
            </a:r>
            <a:r>
              <a:rPr sz="1300">
                <a:solidFill>
                  <a:srgbClr val="5E574C"/>
                </a:solidFill>
                <a:latin typeface="Segoe UI"/>
              </a:rPr>
              <a:t>— operator POSTs a coordinate.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Process </a:t>
            </a:r>
            <a:r>
              <a:rPr sz="1300">
                <a:solidFill>
                  <a:srgbClr val="5E574C"/>
                </a:solidFill>
                <a:latin typeface="Segoe UI"/>
              </a:rPr>
              <a:t>— API validates &amp; queues; executor flies the phases.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Control </a:t>
            </a:r>
            <a:r>
              <a:rPr sz="1300">
                <a:solidFill>
                  <a:srgbClr val="5E574C"/>
                </a:solidFill>
                <a:latin typeface="Segoe UI"/>
              </a:rPr>
              <a:t>— autopilot in GUIDED on GNSS-fused position.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Feedback </a:t>
            </a:r>
            <a:r>
              <a:rPr sz="1300">
                <a:solidFill>
                  <a:srgbClr val="5E574C"/>
                </a:solidFill>
                <a:latin typeface="Segoe UI"/>
              </a:rPr>
              <a:t>— live telemetry out; failsafe watches throughout.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How it knows where it is: GPS, not cell towers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92" y="1645920"/>
            <a:ext cx="6716615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7680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2 · Positioning by satellite GNSS + sensor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783080"/>
            <a:ext cx="3200400" cy="2743200"/>
          </a:xfrm>
          <a:prstGeom prst="roundRect">
            <a:avLst>
              <a:gd name="adj" fmla="val 16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2788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Positioning </a:t>
            </a:r>
            <a:r>
              <a:rPr sz="1400">
                <a:solidFill>
                  <a:srgbClr val="5E574C"/>
                </a:solidFill>
                <a:latin typeface="Segoe UI"/>
              </a:rPr>
              <a:t>— GNSS + IMU + baro + compass, fused onboard.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Data link </a:t>
            </a:r>
            <a:r>
              <a:rPr sz="1400">
                <a:solidFill>
                  <a:srgbClr val="5E574C"/>
                </a:solidFill>
                <a:latin typeface="Segoe UI"/>
              </a:rPr>
              <a:t>— MAVLink over radio / WiFi / LTE.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5943600"/>
            <a:ext cx="10835640" cy="566928"/>
          </a:xfrm>
          <a:prstGeom prst="roundRect">
            <a:avLst>
              <a:gd name="adj" fmla="val 8064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4302A"/>
                </a:solidFill>
                <a:latin typeface="Constantia"/>
              </a:rPr>
              <a:t>Cell / 5G is only an optional link — never how the drone locates itself. 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1">
                <a:solidFill>
                  <a:srgbClr val="5E574C"/>
                </a:solidFill>
                <a:latin typeface="Segoe UI"/>
              </a:rPr>
              <a:t>Positioning is satellite GNSS.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0744D"/>
                </a:solidFill>
                <a:latin typeface="Consola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How the drone receives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41" y="1691640"/>
            <a:ext cx="600515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97880"/>
            <a:ext cx="67665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6 · From HTTP request to a navigated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828800"/>
            <a:ext cx="4069080" cy="4114800"/>
          </a:xfrm>
          <a:prstGeom prst="roundRect">
            <a:avLst>
              <a:gd name="adj" fmla="val 1123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05740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Coordinate in </a:t>
            </a:r>
            <a:r>
              <a:rPr sz="1400">
                <a:solidFill>
                  <a:srgbClr val="5E574C"/>
                </a:solidFill>
                <a:latin typeface="Segoe UI"/>
              </a:rPr>
              <a:t>— one POST with lat/lon (+ optional alt, hover).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Checked twice </a:t>
            </a:r>
            <a:r>
              <a:rPr sz="1400">
                <a:solidFill>
                  <a:srgbClr val="5E574C"/>
                </a:solidFill>
                <a:latin typeface="Segoe UI"/>
              </a:rPr>
              <a:t>— value bounds, then geofence vs home (else 400).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Queued </a:t>
            </a:r>
            <a:r>
              <a:rPr sz="1400">
                <a:solidFill>
                  <a:srgbClr val="5E574C"/>
                </a:solidFill>
                <a:latin typeface="Segoe UI"/>
              </a:rPr>
              <a:t>— as a MissionSpec; missions run strictly serially.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Handed over </a:t>
            </a:r>
            <a:r>
              <a:rPr sz="1400">
                <a:solidFill>
                  <a:srgbClr val="5E574C"/>
                </a:solidFill>
                <a:latin typeface="Segoe UI"/>
              </a:rPr>
              <a:t>— as a GUIDED-mode goto to the autopilot.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Closed-loop </a:t>
            </a:r>
            <a:r>
              <a:rPr sz="1400">
                <a:solidFill>
                  <a:srgbClr val="5E574C"/>
                </a:solidFill>
                <a:latin typeface="Segoe UI"/>
              </a:rPr>
              <a:t>— flies until within 5 m (haversine distance).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How it reaches the destination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4636"/>
            <a:ext cx="6949440" cy="378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15000"/>
            <a:ext cx="69494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7 · The goto control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3886200" cy="4114800"/>
          </a:xfrm>
          <a:prstGeom prst="roundRect">
            <a:avLst>
              <a:gd name="adj" fmla="val 117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Closed loop </a:t>
            </a:r>
            <a:r>
              <a:rPr sz="1400">
                <a:solidFill>
                  <a:srgbClr val="5E574C"/>
                </a:solidFill>
                <a:latin typeface="Segoe UI"/>
              </a:rPr>
              <a:t>— compares EKF position to target every second.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Autopilot steers </a:t>
            </a:r>
            <a:r>
              <a:rPr sz="1400">
                <a:solidFill>
                  <a:srgbClr val="5E574C"/>
                </a:solidFill>
                <a:latin typeface="Segoe UI"/>
              </a:rPr>
              <a:t>— GUIDED mode corrects continuously.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Arrival </a:t>
            </a:r>
            <a:r>
              <a:rPr sz="1400">
                <a:solidFill>
                  <a:srgbClr val="5E574C"/>
                </a:solidFill>
                <a:latin typeface="Segoe UI"/>
              </a:rPr>
              <a:t>— declared within 5 m tolerance (RTK → ~0.3 m).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Stall guard </a:t>
            </a:r>
            <a:r>
              <a:rPr sz="1400">
                <a:solidFill>
                  <a:srgbClr val="5E574C"/>
                </a:solidFill>
                <a:latin typeface="Segoe UI"/>
              </a:rPr>
              <a:t>— no progress in N s → abort the leg safely.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0744D"/>
                </a:solidFill>
                <a:latin typeface="Consolas"/>
              </a:rPr>
              <a:t>OBSTACLES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Obstacle avoidance — map-based, with a sensor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bsta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2908"/>
            <a:ext cx="7680960" cy="4083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680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8 · Avoidance — implemented (map-based) + roadmap (sensors)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246120" cy="4114800"/>
          </a:xfrm>
          <a:prstGeom prst="roundRect">
            <a:avLst>
              <a:gd name="adj" fmla="val 1408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0574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Map-based avoidance </a:t>
            </a:r>
            <a:r>
              <a:rPr sz="1300">
                <a:solidFill>
                  <a:srgbClr val="5E574C"/>
                </a:solidFill>
                <a:latin typeface="Segoe UI"/>
              </a:rPr>
              <a:t>— routes around configured keep-out zones (implemented, unit-tested).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Detour planning </a:t>
            </a:r>
            <a:r>
              <a:rPr sz="1300">
                <a:solidFill>
                  <a:srgbClr val="5E574C"/>
                </a:solidFill>
                <a:latin typeface="Segoe UI"/>
              </a:rPr>
              <a:t>— a blocked leg gets waypoints at a safe lateral offset.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Altitude + geofence </a:t>
            </a:r>
            <a:r>
              <a:rPr sz="1300">
                <a:solidFill>
                  <a:srgbClr val="5E574C"/>
                </a:solidFill>
                <a:latin typeface="Segoe UI"/>
              </a:rPr>
              <a:t>— flies above ground obstacles, inside a bounded area.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Failsafe abort </a:t>
            </a:r>
            <a:r>
              <a:rPr sz="1300">
                <a:solidFill>
                  <a:srgbClr val="5E574C"/>
                </a:solidFill>
                <a:latin typeface="Segoe UI"/>
              </a:rPr>
              <a:t>— battery / GPS / link → RTL or LAND.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300" b="1">
                <a:solidFill>
                  <a:srgbClr val="34302A"/>
                </a:solidFill>
                <a:latin typeface="Constantia"/>
              </a:rPr>
              <a:t>Roadmap </a:t>
            </a:r>
            <a:r>
              <a:rPr sz="1300">
                <a:solidFill>
                  <a:srgbClr val="5E574C"/>
                </a:solidFill>
                <a:latin typeface="Segoe UI"/>
              </a:rPr>
              <a:t>— sensor-based reactive avoidance on Copter 4.x.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MISSION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A 12-state flight machine — every step logged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3684"/>
            <a:ext cx="7772400" cy="38821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772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3 · Mission state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154680" cy="4023360"/>
          </a:xfrm>
          <a:prstGeom prst="roundRect">
            <a:avLst>
              <a:gd name="adj" fmla="val 1449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57400"/>
            <a:ext cx="2697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Happy path </a:t>
            </a:r>
            <a:r>
              <a:rPr sz="1400">
                <a:solidFill>
                  <a:srgbClr val="5E574C"/>
                </a:solidFill>
                <a:latin typeface="Segoe UI"/>
              </a:rPr>
              <a:t>— arm → take off → enroute → hover → RTL → land → done.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Any phase </a:t>
            </a:r>
            <a:r>
              <a:rPr sz="1400">
                <a:solidFill>
                  <a:srgbClr val="5E574C"/>
                </a:solidFill>
                <a:latin typeface="Segoe UI"/>
              </a:rPr>
              <a:t>can divert safely to ABORTED or FAILED.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Abort blocks </a:t>
            </a:r>
            <a:r>
              <a:rPr sz="1400">
                <a:solidFill>
                  <a:srgbClr val="5E574C"/>
                </a:solidFill>
                <a:latin typeface="Segoe UI"/>
              </a:rPr>
              <a:t>until disarm — never hand off an airborne drone.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DISPATCH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From network trigger to touchdown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92" y="1691640"/>
            <a:ext cx="7121055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4 · Mission message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611880" cy="4023360"/>
          </a:xfrm>
          <a:prstGeom prst="roundRect">
            <a:avLst>
              <a:gd name="adj" fmla="val 1265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057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1 · Trigger </a:t>
            </a:r>
            <a:r>
              <a:rPr sz="1400">
                <a:solidFill>
                  <a:srgbClr val="5E574C"/>
                </a:solidFill>
                <a:latin typeface="Segoe UI"/>
              </a:rPr>
              <a:t>— validated at the edge vs the geofence.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2 · Queue </a:t>
            </a:r>
            <a:r>
              <a:rPr sz="1400">
                <a:solidFill>
                  <a:srgbClr val="5E574C"/>
                </a:solidFill>
                <a:latin typeface="Segoe UI"/>
              </a:rPr>
              <a:t>— bounded, strictly serial.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3 · Execute </a:t>
            </a:r>
            <a:r>
              <a:rPr sz="1400">
                <a:solidFill>
                  <a:srgbClr val="5E574C"/>
                </a:solidFill>
                <a:latin typeface="Segoe UI"/>
              </a:rPr>
              <a:t>— connect, GPS lock, arm, climb.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4 · Verify </a:t>
            </a:r>
            <a:r>
              <a:rPr sz="1400">
                <a:solidFill>
                  <a:srgbClr val="5E574C"/>
                </a:solidFill>
                <a:latin typeface="Segoe UI"/>
              </a:rPr>
              <a:t>— each mode change confirmed.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5 · Return </a:t>
            </a:r>
            <a:r>
              <a:rPr sz="1400">
                <a:solidFill>
                  <a:srgbClr val="5E574C"/>
                </a:solidFill>
                <a:latin typeface="Segoe UI"/>
              </a:rPr>
              <a:t>— hover, RTL, land, log incident.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5904E"/>
                </a:solidFill>
                <a:latin typeface="Consolas"/>
              </a:rPr>
              <a:t>INTELLECTUAL PROPERTY · PATENT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Verified flight-mode delivery + landing-interlocked dispatch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37360"/>
            <a:ext cx="108356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 i="1">
                <a:solidFill>
                  <a:srgbClr val="5E574C"/>
                </a:solidFill>
                <a:latin typeface="Segoe UI"/>
              </a:rPr>
              <a:t>Treat the autopilot as untrusted; prove every command; never overlap 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77440"/>
            <a:ext cx="10835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Confirmed setter </a:t>
            </a:r>
            <a:r>
              <a:rPr sz="1650">
                <a:solidFill>
                  <a:srgbClr val="5E574C"/>
                </a:solidFill>
                <a:latin typeface="Segoe UI"/>
              </a:rPr>
              <a:t>— issue via high-level API, then re-issue as COMMAND_LONG / DO_SET_MODE and SET_MODE until telemetry confirms.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Cross-action fallback </a:t>
            </a:r>
            <a:r>
              <a:rPr sz="1650">
                <a:solidFill>
                  <a:srgbClr val="5E574C"/>
                </a:solidFill>
                <a:latin typeface="Segoe UI"/>
              </a:rPr>
              <a:t>— if RTL won't confirm, command LAND through the same verified routine, and vice versa.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Abort guarantee </a:t>
            </a:r>
            <a:r>
              <a:rPr sz="1650">
                <a:solidFill>
                  <a:srgbClr val="5E574C"/>
                </a:solidFill>
                <a:latin typeface="Segoe UI"/>
              </a:rPr>
              <a:t>— every abnormal exit blocks until the vehicle reports disarmed (or a 240 s bound).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Pre-flight interlock </a:t>
            </a:r>
            <a:r>
              <a:rPr sz="1650">
                <a:solidFill>
                  <a:srgbClr val="5E574C"/>
                </a:solidFill>
                <a:latin typeface="Segoe UI"/>
              </a:rPr>
              <a:t>— refuse to arm/take off while armed — violation becomes impossible, not just improbable.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Edge geofence </a:t>
            </a:r>
            <a:r>
              <a:rPr sz="1650">
                <a:solidFill>
                  <a:srgbClr val="5E574C"/>
                </a:solidFill>
                <a:latin typeface="Segoe UI"/>
              </a:rPr>
              <a:t>— reject out-of-fence targets &amp; waypoints before flight.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486400"/>
            <a:ext cx="10835640" cy="777240"/>
          </a:xfrm>
          <a:prstGeom prst="roundRect">
            <a:avLst>
              <a:gd name="adj" fmla="val 5882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96128"/>
            <a:ext cx="10332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1">
                <a:solidFill>
                  <a:srgbClr val="B5904E"/>
                </a:solidFill>
                <a:latin typeface="Segoe UI"/>
              </a:rPr>
              <a:t>8 claims · IPC B64U 10/13, G05D 1/00, G08G 5/00 · IPO Form 2 complete-specification draft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PATENT 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The verified mode setter,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1783080"/>
            <a:ext cx="6858000" cy="4206240"/>
          </a:xfrm>
          <a:prstGeom prst="roundRect">
            <a:avLst>
              <a:gd name="adj" fmla="val 1086"/>
            </a:avLst>
          </a:prstGeom>
          <a:solidFill>
            <a:srgbClr val="FBF8F1">
              <a:alpha val="72000"/>
            </a:srgbClr>
          </a:solidFill>
          <a:ln w="13970">
            <a:solidFill>
              <a:srgbClr val="34302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6400800" cy="374903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8C8474"/>
                </a:solidFill>
                <a:latin typeface="Consolas"/>
              </a:rPr>
              <a:t># issue, then confirm from the autopilot's OWN telemetry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34302A"/>
                </a:solidFill>
                <a:latin typeface="Consolas"/>
              </a:rPr>
              <a:t>v.mode = target              # 1) high-level setter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5B7286"/>
                </a:solidFill>
                <a:latin typeface="Consolas"/>
              </a:rPr>
              <a:t>while now &lt; deadline: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7C8A5A"/>
                </a:solidFill>
                <a:latin typeface="Consolas"/>
              </a:rPr>
              <a:t>    if v.mode.name == target:   # confirmed!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7C8A5A"/>
                </a:solidFill>
                <a:latin typeface="Consolas"/>
              </a:rPr>
              <a:t>        return True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5B7286"/>
                </a:solidFill>
                <a:latin typeface="Consolas"/>
              </a:rPr>
              <a:t>    raw_set_mode(target)     # 2) COMMAND_LONG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5B7286"/>
                </a:solidFill>
                <a:latin typeface="Consolas"/>
              </a:rPr>
              <a:t>    set_mode_send(target)    # 3) SET_MODE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8C8474"/>
                </a:solidFill>
                <a:latin typeface="Consolas"/>
              </a:rPr>
              <a:t># emergency? if RTL fails, fall back to LAND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5B7286"/>
                </a:solidFill>
                <a:latin typeface="Consolas"/>
              </a:rPr>
              <a:t>if not confirmed(action):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0" i="0">
                <a:solidFill>
                  <a:srgbClr val="B0744D"/>
                </a:solidFill>
                <a:latin typeface="Consolas"/>
              </a:rPr>
              <a:t>    set_mode_confirmed(other)   # cross-action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83080"/>
            <a:ext cx="3749039" cy="4206240"/>
          </a:xfrm>
          <a:prstGeom prst="roundRect">
            <a:avLst>
              <a:gd name="adj" fmla="val 1219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34302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01168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 b="1">
                <a:solidFill>
                  <a:srgbClr val="34302A"/>
                </a:solidFill>
                <a:latin typeface="Constantia"/>
              </a:rPr>
              <a:t>Idempotent </a:t>
            </a:r>
            <a:r>
              <a:rPr sz="1450">
                <a:solidFill>
                  <a:srgbClr val="5E574C"/>
                </a:solidFill>
                <a:latin typeface="Segoe UI"/>
              </a:rPr>
              <a:t>— redundant re-issue is harmless.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 b="1">
                <a:solidFill>
                  <a:srgbClr val="34302A"/>
                </a:solidFill>
                <a:latin typeface="Constantia"/>
              </a:rPr>
              <a:t>Zero client trust </a:t>
            </a:r>
            <a:r>
              <a:rPr sz="1450">
                <a:solidFill>
                  <a:srgbClr val="5E574C"/>
                </a:solidFill>
                <a:latin typeface="Segoe UI"/>
              </a:rPr>
              <a:t>— only telemetry confirms.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 b="1">
                <a:solidFill>
                  <a:srgbClr val="34302A"/>
                </a:solidFill>
                <a:latin typeface="Constantia"/>
              </a:rPr>
              <a:t>Emergencies too </a:t>
            </a:r>
            <a:r>
              <a:rPr sz="1450">
                <a:solidFill>
                  <a:srgbClr val="5E574C"/>
                </a:solidFill>
                <a:latin typeface="Segoe UI"/>
              </a:rPr>
              <a:t>— abort path as robust as nominal.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 b="1">
                <a:solidFill>
                  <a:srgbClr val="34302A"/>
                </a:solidFill>
                <a:latin typeface="Constantia"/>
              </a:rPr>
              <a:t>Proven in SITL </a:t>
            </a:r>
            <a:r>
              <a:rPr sz="1450">
                <a:solidFill>
                  <a:srgbClr val="5E574C"/>
                </a:solidFill>
                <a:latin typeface="Segoe UI"/>
              </a:rPr>
              <a:t>— silent-mode-reject bug mitigated.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5904E"/>
                </a:solidFill>
                <a:latin typeface="Consolas"/>
              </a:rPr>
              <a:t>INTELLECTUAL PROPERTY · PATENT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Debounced, severity-ordered failsafe arbitration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37360"/>
            <a:ext cx="108356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 i="1">
                <a:solidFill>
                  <a:srgbClr val="5E574C"/>
                </a:solidFill>
                <a:latin typeface="Segoe UI"/>
              </a:rPr>
              <a:t>Many hazards, evaluated at 1 Hz, resolve to exactly one calm recovery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77440"/>
            <a:ext cx="10835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Monotone severity </a:t>
            </a:r>
            <a:r>
              <a:rPr sz="1650">
                <a:solidFill>
                  <a:srgbClr val="5E574C"/>
                </a:solidFill>
                <a:latin typeface="Segoe UI"/>
              </a:rPr>
              <a:t>— actions ordered NONE &lt; RTL &lt; LAND; a LAND demand is never downgraded.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Debounced GPS </a:t>
            </a:r>
            <a:r>
              <a:rPr sz="1650">
                <a:solidFill>
                  <a:srgbClr val="5E574C"/>
                </a:solidFill>
                <a:latin typeface="Segoe UI"/>
              </a:rPr>
              <a:t>— fires only after N consecutive bad samples (reset on recovery); a glitch never lands the drone.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Mid-recovery escalation </a:t>
            </a:r>
            <a:r>
              <a:rPr sz="1650">
                <a:solidFill>
                  <a:srgbClr val="5E574C"/>
                </a:solidFill>
                <a:latin typeface="Segoe UI"/>
              </a:rPr>
              <a:t>— a critical-battery LAND overrides an in-progress RTL.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Fire-once discipline </a:t>
            </a:r>
            <a:r>
              <a:rPr sz="1650">
                <a:solidFill>
                  <a:srgbClr val="5E574C"/>
                </a:solidFill>
                <a:latin typeface="Segoe UI"/>
              </a:rPr>
              <a:t>— each hazard emits one event per mission (re-fire only to escalate).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650" b="1">
                <a:solidFill>
                  <a:srgbClr val="34302A"/>
                </a:solidFill>
                <a:latin typeface="Constantia"/>
              </a:rPr>
              <a:t>Above firmware </a:t>
            </a:r>
            <a:r>
              <a:rPr sz="1650">
                <a:solidFill>
                  <a:srgbClr val="5E574C"/>
                </a:solidFill>
                <a:latin typeface="Segoe UI"/>
              </a:rPr>
              <a:t>— layered on unmodified ArduPilot/PX4 failsafes.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486400"/>
            <a:ext cx="10835640" cy="777240"/>
          </a:xfrm>
          <a:prstGeom prst="roundRect">
            <a:avLst>
              <a:gd name="adj" fmla="val 5882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96128"/>
            <a:ext cx="10332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1">
                <a:solidFill>
                  <a:srgbClr val="B5904E"/>
                </a:solidFill>
                <a:latin typeface="Segoe UI"/>
              </a:rPr>
              <a:t>8 claims · pinned by a 37-case unit suite · IPC G05D 1/00, B64D 45/00, B64U 2201/10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PATENT 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The hazard tree: condition → threshold →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ilsa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8496"/>
            <a:ext cx="7680960" cy="4172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97880"/>
            <a:ext cx="7680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5 · Failsafe decision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828800"/>
            <a:ext cx="3200400" cy="4023360"/>
          </a:xfrm>
          <a:prstGeom prst="roundRect">
            <a:avLst>
              <a:gd name="adj" fmla="val 1428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5740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RTL </a:t>
            </a:r>
            <a:r>
              <a:rPr sz="1400">
                <a:solidFill>
                  <a:srgbClr val="5E574C"/>
                </a:solidFill>
                <a:latin typeface="Segoe UI"/>
              </a:rPr>
              <a:t>— battery low, geofence, timeout, link loss.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LAND </a:t>
            </a:r>
            <a:r>
              <a:rPr sz="1400">
                <a:solidFill>
                  <a:srgbClr val="5E574C"/>
                </a:solidFill>
                <a:latin typeface="Segoe UI"/>
              </a:rPr>
              <a:t>— battery critical, GPS lost (can't navigate).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0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00" b="1">
                <a:solidFill>
                  <a:srgbClr val="34302A"/>
                </a:solidFill>
                <a:latin typeface="Constantia"/>
              </a:rPr>
              <a:t>Debounce </a:t>
            </a:r>
            <a:r>
              <a:rPr sz="1400">
                <a:solidFill>
                  <a:srgbClr val="5E574C"/>
                </a:solidFill>
                <a:latin typeface="Segoe UI"/>
              </a:rPr>
              <a:t>— GPS needs N bad samples to fire.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SAFETY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Five gates from network trigger to landing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e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80" y="1828800"/>
            <a:ext cx="7071360" cy="2651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6656" y="475488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4754880"/>
            <a:ext cx="109728" cy="914400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332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34302A"/>
                </a:solidFill>
                <a:latin typeface="Constantia"/>
              </a:rPr>
              <a:t>The guarantee: 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0" i="1">
                <a:solidFill>
                  <a:srgbClr val="5E574C"/>
                </a:solidFill>
                <a:latin typeface="Segoe UI"/>
              </a:rPr>
              <a:t>even if four gates fail, no mission ever starts against an airborne drone.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1">
                <a:solidFill>
                  <a:srgbClr val="8C8474"/>
                </a:solidFill>
                <a:latin typeface="Segoe UI"/>
              </a:rPr>
              <a:t>Figure 6 · The five-gate safety interlock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7C8A5A"/>
                </a:solidFill>
                <a:latin typeface="Consolas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Proven in software-in-the-loop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1737360"/>
            <a:ext cx="57912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52160"/>
            <a:ext cx="63093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C8474"/>
                </a:solidFill>
                <a:latin typeface="Consolas"/>
              </a:rPr>
              <a:t>Figure 7 · Reconstructed flight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4206240" cy="960120"/>
          </a:xfrm>
          <a:prstGeom prst="roundRect">
            <a:avLst>
              <a:gd name="adj" fmla="val 4761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828800"/>
            <a:ext cx="109728" cy="960120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920240"/>
            <a:ext cx="20116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7C8A5A"/>
                </a:solidFill>
                <a:latin typeface="Constantia"/>
              </a:rPr>
              <a:t>8 /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828800"/>
            <a:ext cx="1874519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1">
                <a:solidFill>
                  <a:srgbClr val="5E574C"/>
                </a:solidFill>
                <a:latin typeface="Segoe UI"/>
              </a:rPr>
              <a:t>acceptance checks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907792"/>
            <a:ext cx="4206240" cy="960120"/>
          </a:xfrm>
          <a:prstGeom prst="roundRect">
            <a:avLst>
              <a:gd name="adj" fmla="val 4761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907792"/>
            <a:ext cx="109728" cy="96012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999232"/>
            <a:ext cx="20116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B0744D"/>
                </a:solidFill>
                <a:latin typeface="Constantia"/>
              </a:rPr>
              <a:t>0.4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907792"/>
            <a:ext cx="1874519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1">
                <a:solidFill>
                  <a:srgbClr val="5E574C"/>
                </a:solidFill>
                <a:latin typeface="Segoe UI"/>
              </a:rPr>
              <a:t>terminal accuracy (5 m tol.)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986784"/>
            <a:ext cx="4206240" cy="960120"/>
          </a:xfrm>
          <a:prstGeom prst="roundRect">
            <a:avLst>
              <a:gd name="adj" fmla="val 4761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3986784"/>
            <a:ext cx="109728" cy="960120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4078224"/>
            <a:ext cx="20116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5B7286"/>
                </a:solidFill>
                <a:latin typeface="Constantia"/>
              </a:rP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986784"/>
            <a:ext cx="1874519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1">
                <a:solidFill>
                  <a:srgbClr val="5E574C"/>
                </a:solidFill>
                <a:latin typeface="Segoe UI"/>
              </a:rPr>
              <a:t>safety unit tests, ms-fast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065776"/>
            <a:ext cx="4206240" cy="960120"/>
          </a:xfrm>
          <a:prstGeom prst="roundRect">
            <a:avLst>
              <a:gd name="adj" fmla="val 4761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5065776"/>
            <a:ext cx="109728" cy="960120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5157216"/>
            <a:ext cx="20116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B5904E"/>
                </a:solidFill>
                <a:latin typeface="Constantia"/>
              </a:rPr>
              <a:t>328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5065776"/>
            <a:ext cx="1874519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1">
                <a:solidFill>
                  <a:srgbClr val="5E574C"/>
                </a:solidFill>
                <a:latin typeface="Segoe UI"/>
              </a:rPr>
              <a:t>full autonomous 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1828800"/>
            <a:ext cx="2587752" cy="393192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029968"/>
            <a:ext cx="2185416" cy="2794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213055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B0744D"/>
                </a:solidFill>
                <a:latin typeface="Constantia"/>
              </a:rPr>
              <a:t>Flight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1671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Python 3.11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DroneKit + pymavlink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MAVLink protocol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ArduPilot SITL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828800"/>
            <a:ext cx="2587752" cy="393192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21024" y="2029968"/>
            <a:ext cx="2185416" cy="27940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212848"/>
            <a:ext cx="213055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7C8A5A"/>
                </a:solidFill>
                <a:latin typeface="Constantia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21671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FastAPI + Pydantic v2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Uvicorn ASGI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WebSocket telemetry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7C8A5A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SQLite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28800"/>
            <a:ext cx="2587752" cy="393192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2029968"/>
            <a:ext cx="2185416" cy="27940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12848"/>
            <a:ext cx="213055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5B7286"/>
                </a:solidFill>
                <a:latin typeface="Constantia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21671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React 18 + Vite 5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react-leaflet map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Live path + log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Follow-drone toggle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828800"/>
            <a:ext cx="2587752" cy="3931920"/>
          </a:xfrm>
          <a:prstGeom prst="roundRect">
            <a:avLst>
              <a:gd name="adj" fmla="val 176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2029968"/>
            <a:ext cx="2185416" cy="27940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212848"/>
            <a:ext cx="213055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B5904E"/>
                </a:solidFill>
                <a:latin typeface="Constantia"/>
              </a:rPr>
              <a:t>Quality /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88920"/>
            <a:ext cx="21671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37 pytest tests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E2E SITL acceptance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Docker compose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450">
                <a:solidFill>
                  <a:srgbClr val="34302A"/>
                </a:solidFill>
                <a:latin typeface="Segoe UI"/>
              </a:rPr>
              <a:t>API-key + geofence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286"/>
                </a:solidFill>
                <a:latin typeface="Consola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Next steps &amp; Claude Code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1828800"/>
            <a:ext cx="5212080" cy="4023360"/>
          </a:xfrm>
          <a:prstGeom prst="roundRect">
            <a:avLst>
              <a:gd name="adj" fmla="val 113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0744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029968"/>
            <a:ext cx="4809744" cy="2794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4846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B0744D"/>
                </a:solidFill>
                <a:latin typeface="Constantia"/>
              </a:rPr>
              <a:t>Product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Migrate off DroneKit </a:t>
            </a:r>
            <a:r>
              <a:rPr sz="1500">
                <a:solidFill>
                  <a:srgbClr val="5E574C"/>
                </a:solidFill>
                <a:latin typeface="Segoe UI"/>
              </a:rPr>
              <a:t>→ MAVSDK / ArduPilot 4.x.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Failsafe-injection tests </a:t>
            </a:r>
            <a:r>
              <a:rPr sz="1500">
                <a:solidFill>
                  <a:srgbClr val="5E574C"/>
                </a:solidFill>
                <a:latin typeface="Segoe UI"/>
              </a:rPr>
              <a:t>— scripted SITL cuts.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Multi-leg routes </a:t>
            </a:r>
            <a:r>
              <a:rPr sz="1500">
                <a:solidFill>
                  <a:srgbClr val="5E574C"/>
                </a:solidFill>
                <a:latin typeface="Segoe UI"/>
              </a:rPr>
              <a:t>— full waypoint list up front.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B0744D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RTK GPS </a:t>
            </a:r>
            <a:r>
              <a:rPr sz="1500">
                <a:solidFill>
                  <a:srgbClr val="5E574C"/>
                </a:solidFill>
                <a:latin typeface="Segoe UI"/>
              </a:rPr>
              <a:t>for ~0.1 m real-world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828800"/>
            <a:ext cx="5468112" cy="4023360"/>
          </a:xfrm>
          <a:prstGeom prst="roundRect">
            <a:avLst>
              <a:gd name="adj" fmla="val 1136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5B7286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2029968"/>
            <a:ext cx="5065776" cy="27940"/>
          </a:xfrm>
          <a:prstGeom prst="rect">
            <a:avLst/>
          </a:prstGeom>
          <a:solidFill>
            <a:srgbClr val="5B7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029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5B7286"/>
                </a:solidFill>
                <a:latin typeface="Constantia"/>
              </a:rPr>
              <a:t>Claude Code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889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/fly slash command </a:t>
            </a:r>
            <a:r>
              <a:rPr sz="1500">
                <a:solidFill>
                  <a:srgbClr val="5E574C"/>
                </a:solidFill>
                <a:latin typeface="Segoe UI"/>
              </a:rPr>
              <a:t>— trigger → telemetry → cancel.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Save-hook </a:t>
            </a:r>
            <a:r>
              <a:rPr sz="1500">
                <a:solidFill>
                  <a:srgbClr val="5E574C"/>
                </a:solidFill>
                <a:latin typeface="Segoe UI"/>
              </a:rPr>
              <a:t>— auto-run unit tests on edits.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GitHub Actions CI </a:t>
            </a:r>
            <a:r>
              <a:rPr sz="1500">
                <a:solidFill>
                  <a:srgbClr val="5E574C"/>
                </a:solidFill>
                <a:latin typeface="Segoe UI"/>
              </a:rPr>
              <a:t>— run the safety suite per push.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5B7286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MCP telemetry server </a:t>
            </a:r>
            <a:r>
              <a:rPr sz="1500">
                <a:solidFill>
                  <a:srgbClr val="5E574C"/>
                </a:solidFill>
                <a:latin typeface="Segoe UI"/>
              </a:rPr>
              <a:t>— query live state in chat.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566928"/>
            <a:ext cx="118872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144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5904E"/>
                </a:solidFill>
                <a:latin typeface="Consolas"/>
              </a:rPr>
              <a:t>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34302A"/>
                </a:solidFill>
                <a:latin typeface="Constantia"/>
              </a:rPr>
              <a:t>Copyright vs. patent — what protects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517904"/>
            <a:ext cx="10835640" cy="1397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0" y="1463040"/>
            <a:ext cx="20320" cy="118872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182880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7C8A5A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029968"/>
            <a:ext cx="4809744" cy="27940"/>
          </a:xfrm>
          <a:prstGeom prst="rect">
            <a:avLst/>
          </a:prstGeom>
          <a:solidFill>
            <a:srgbClr val="7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4846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7C8A5A"/>
                </a:solidFill>
                <a:latin typeface="Constantia"/>
              </a:rPr>
              <a:t>Copyright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b="0" i="0">
                <a:solidFill>
                  <a:srgbClr val="5E574C"/>
                </a:solidFill>
                <a:latin typeface="Segoe UI"/>
              </a:rPr>
              <a:t>Protects the expression — source code, docs, diagrams, the paper. Automatic on authorship; registration is cheap, fast, and yours to file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828800"/>
            <a:ext cx="5468112" cy="2286000"/>
          </a:xfrm>
          <a:prstGeom prst="roundRect">
            <a:avLst>
              <a:gd name="adj" fmla="val 2000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2029968"/>
            <a:ext cx="5065776" cy="27940"/>
          </a:xfrm>
          <a:prstGeom prst="rect">
            <a:avLst/>
          </a:prstGeom>
          <a:solidFill>
            <a:srgbClr val="B59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029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B5904E"/>
                </a:solidFill>
                <a:latin typeface="Constantia"/>
              </a:rPr>
              <a:t>Patent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43200"/>
            <a:ext cx="50292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b="0" i="0">
                <a:solidFill>
                  <a:srgbClr val="5E574C"/>
                </a:solidFill>
                <a:latin typeface="Segoe UI"/>
              </a:rPr>
              <a:t>Protects the inventions — the verified setter, landing interlock, failsafe arbiter. Two IPO Form-2 drafts exist; needs a novelty search + a registered agent.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4297680"/>
            <a:ext cx="10863072" cy="1600200"/>
          </a:xfrm>
          <a:prstGeom prst="roundRect">
            <a:avLst>
              <a:gd name="adj" fmla="val 2857"/>
            </a:avLst>
          </a:prstGeom>
          <a:solidFill>
            <a:srgbClr val="FBF8F1">
              <a:alpha val="92000"/>
            </a:srgbClr>
          </a:solidFill>
          <a:ln w="13970">
            <a:solidFill>
              <a:srgbClr val="B5904E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1">
                <a:solidFill>
                  <a:srgbClr val="B5904E"/>
                </a:solidFill>
                <a:latin typeface="Constantia"/>
              </a:rPr>
              <a:t>Recommended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Now </a:t>
            </a:r>
            <a:r>
              <a:rPr sz="1500">
                <a:solidFill>
                  <a:srgbClr val="5E574C"/>
                </a:solidFill>
                <a:latin typeface="Segoe UI"/>
              </a:rPr>
              <a:t>— register copyright on the codebase + paper (immediate, low-cost).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Then </a:t>
            </a:r>
            <a:r>
              <a:rPr sz="1500">
                <a:solidFill>
                  <a:srgbClr val="5E574C"/>
                </a:solidFill>
                <a:latin typeface="Segoe UI"/>
              </a:rPr>
              <a:t>— run IPO InPASS / WIPO novelty search against both patent drafts.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B5904E"/>
                </a:solidFill>
                <a:latin typeface="Constantia"/>
              </a:rPr>
              <a:t>•  </a:t>
            </a:r>
            <a:r>
              <a:rPr sz="1500" b="1">
                <a:solidFill>
                  <a:srgbClr val="34302A"/>
                </a:solidFill>
                <a:latin typeface="Constantia"/>
              </a:rPr>
              <a:t>Then </a:t>
            </a:r>
            <a:r>
              <a:rPr sz="1500">
                <a:solidFill>
                  <a:srgbClr val="5E574C"/>
                </a:solidFill>
                <a:latin typeface="Segoe UI"/>
              </a:rPr>
              <a:t>— file provisional patents via a registered agent before public disclosure.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6382512"/>
            <a:ext cx="10835640" cy="11430"/>
          </a:xfrm>
          <a:prstGeom prst="rect">
            <a:avLst/>
          </a:prstGeom>
          <a:solidFill>
            <a:srgbClr val="CB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DRONE SAFETY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6455664"/>
            <a:ext cx="15087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C8474"/>
                </a:solidFill>
                <a:latin typeface="Consolas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80160" y="1691640"/>
            <a:ext cx="9601200" cy="3474720"/>
          </a:xfrm>
          <a:prstGeom prst="roundRect">
            <a:avLst>
              <a:gd name="adj" fmla="val 1315"/>
            </a:avLst>
          </a:prstGeom>
          <a:solidFill>
            <a:srgbClr val="FBF8F1">
              <a:alpha val="58000"/>
            </a:srgbClr>
          </a:solidFill>
          <a:ln w="13970">
            <a:solidFill>
              <a:srgbClr val="CBC1AD">
                <a:alpha val="7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103120"/>
            <a:ext cx="8686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1">
                <a:solidFill>
                  <a:srgbClr val="B0744D"/>
                </a:solidFill>
                <a:latin typeface="Constantia"/>
              </a:rPr>
              <a:t>Autonomous · Verified ·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560320"/>
            <a:ext cx="886968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000" b="1" i="0">
                <a:solidFill>
                  <a:srgbClr val="34302A"/>
                </a:solidFill>
                <a:latin typeface="Constantia"/>
              </a:rPr>
              <a:t>Drone Safety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3611880"/>
            <a:ext cx="2468880" cy="30480"/>
          </a:xfrm>
          <a:prstGeom prst="rect">
            <a:avLst/>
          </a:prstGeom>
          <a:solidFill>
            <a:srgbClr val="B07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794760"/>
            <a:ext cx="86868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0" i="1">
                <a:solidFill>
                  <a:srgbClr val="5E574C"/>
                </a:solidFill>
                <a:latin typeface="Segoe UI"/>
              </a:rPr>
              <a:t>A provable safety layer for autonomous UAV dispatch.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526280"/>
            <a:ext cx="8686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0" i="1">
                <a:solidFill>
                  <a:srgbClr val="5B7286"/>
                </a:solidFill>
                <a:latin typeface="Segoe UI"/>
              </a:rPr>
              <a:t>github.com/SV-1411/drone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486400"/>
            <a:ext cx="9601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1">
                <a:solidFill>
                  <a:srgbClr val="8C8474"/>
                </a:solidFill>
                <a:latin typeface="Segoe UI"/>
              </a:rPr>
              <a:t>Built with a companion-computer architecture · DroneKit · MAVLink · ArduPilot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